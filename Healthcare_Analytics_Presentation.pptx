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jfif" ContentType="image/jpe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2"/>
  </p:notesMasterIdLst>
  <p:handoutMasterIdLst>
    <p:handoutMasterId r:id="rId13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23"/>
    <p:sldId id="341" r:id="rId24"/>
    <p:sldId id="342" r:id="rId25"/>
    <p:sldId id="343" r:id="rId26"/>
    <p:sldId id="344" r:id="rId27"/>
    <p:sldId id="345" r:id="rId28"/>
    <p:sldId id="346" r:id="rId29"/>
    <p:sldId id="347" r:id="rId30"/>
    <p:sldId id="348" r:id="rId31"/>
    <p:sldId id="349" r:id="rId32"/>
    <p:sldId id="30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69" d="100"/>
          <a:sy n="69" d="100"/>
        </p:scale>
        <p:origin x="484" y="44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17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2" Type="http://schemas.microsoft.com/office/2015/10/relationships/revisionInfo" Target="revisionInfo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28" Type="http://schemas.openxmlformats.org/officeDocument/2006/relationships/slide" Target="slides/slide12.xml"/><Relationship Id="rId29" Type="http://schemas.openxmlformats.org/officeDocument/2006/relationships/slide" Target="slides/slide13.xml"/><Relationship Id="rId30" Type="http://schemas.openxmlformats.org/officeDocument/2006/relationships/slide" Target="slides/slide14.xml"/><Relationship Id="rId31" Type="http://schemas.openxmlformats.org/officeDocument/2006/relationships/slide" Target="slides/slide15.xml"/><Relationship Id="rId32" Type="http://schemas.openxmlformats.org/officeDocument/2006/relationships/slide" Target="slides/slide1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12/29/2023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12/29/2023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12/29/2023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12/29/2023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12/29/2023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12/29/2023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jf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2.png"/><Relationship Id="rId3" Type="http://schemas.openxmlformats.org/officeDocument/2006/relationships/image" Target="../media/image1.jf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4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4.png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4.pn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4.png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4.png"/><Relationship Id="rId3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4.png"/><Relationship Id="rId3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4.png"/><Relationship Id="rId3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.jf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00000" y="4141999"/>
            <a:ext cx="4712960" cy="1100000"/>
          </a:xfrm>
        </p:spPr>
        <p:txBody>
          <a:bodyPr/>
          <a:lstStyle/>
          <a:p>
            <a:pPr algn="r"/>
            <a:r>
              <a:rPr lang="en-US" b="1" dirty="0" smtClean="0" sz="2000">
                <a:solidFill>
                  <a:schemeClr val="tx1"/>
                </a:solidFill>
              </a:rPr>
              <a:t>Gajanan Harinarayan Raje</a:t>
            </a:r>
            <a:endParaRPr lang="en-IN" b="0" dirty="0">
              <a:solidFill>
                <a:schemeClr val="tx1"/>
              </a:solidFill>
            </a:endParaRPr>
          </a:p>
          <a:p>
            <a:pPr algn="r"/>
            <a:r>
              <a:rPr sz="1400" b="0">
                <a:solidFill>
                  <a:srgbClr val="404040"/>
                </a:solidFill>
              </a:rPr>
              <a:t>TYBCA | MGM's College of CS &amp; IT, Nanded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0000" y="1750000"/>
            <a:ext cx="3550000" cy="1100000"/>
          </a:xfrm>
        </p:spPr>
        <p:txBody>
          <a:bodyPr>
            <a:normAutofit/>
          </a:bodyPr>
          <a:lstStyle/>
          <a:p>
            <a:r>
              <a:rPr lang="en-GB" sz="2400" dirty="0" smtClean="0"/>
              <a:t>Healthcare Analytics</a:t>
            </a:r>
            <a:br/>
            <a:r>
              <a:rPr lang="en-GB" sz="2400" dirty="0" smtClean="0"/>
              <a:t>for Doctor Visits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5950000" y="2950000"/>
            <a:ext cx="3550000" cy="800000"/>
          </a:xfrm>
          <a:prstGeom prst="rect">
            <a:avLst/>
          </a:prstGeom>
        </p:spPr>
        <p:txBody>
          <a:bodyPr vert="horz" lIns="91440" tIns="45720" rIns="91440" bIns="45720" rtlCol="0" wrap="square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800"/>
              </a:spcAft>
            </a:pPr>
            <a:r>
              <a:rPr sz="1300" b="0">
                <a:solidFill>
                  <a:srgbClr val="404040"/>
                </a:solidFill>
              </a:rPr>
              <a:t>DIY Project | VOIS For Tech</a:t>
            </a:r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700000"/>
            <a:ext cx="5800000" cy="4200000"/>
          </a:xfrm>
        </p:spPr>
        <p:txBody>
          <a:bodyPr wrap="square"/>
          <a:lstStyle/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2200" b="0"/>
              <a:t>Hospitals and clinics need to know which patient factors decide how often people visit a doctor.</a:t>
            </a:r>
            <a:endParaRPr lang="en-IN" sz="2800" dirty="0"/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2200" b="0"/>
              <a:t>Raw patient records (5,190 rows) do not show these patterns on their own.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2200" b="0"/>
              <a:t>This project cleans the data and analyses it to find which factors matter most, so care can be planned better.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Project Description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0399" y="1750000"/>
            <a:ext cx="625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Char char="•"/>
            </a:pPr>
            <a:r>
              <a:rPr sz="1800" b="0"/>
              <a:t>Dataset: 5,190 patient records with 12 variables (age, gender, income, illness, insurance type, health score and more).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sz="1800" b="0"/>
              <a:t>Target: number of doctor visits per patient.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sz="1800" b="0"/>
              <a:t>Steps: load data, clean it (encode yes/no and gender, check nulls and duplicates), draw 10 charts, find correlations, write insights.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sz="1800" b="0"/>
              <a:t>Work done in Python on Google Colab, in the same style as a market analysis.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sz="1800" b="0"/>
              <a:t>Output: 10 charts, cleaned CSV, report (PDF) and this presentation.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00000"/>
            <a:ext cx="6150000" cy="4100000"/>
          </a:xfrm>
        </p:spPr>
        <p:txBody>
          <a:bodyPr wrap="square">
            <a:norm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2000" b="0"/>
              <a:t>Hospital and clinic managers: plan staff and appointments</a:t>
            </a:r>
            <a:endParaRPr lang="en-IN" sz="3600" dirty="0"/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2000" b="0"/>
              <a:t>Doctors and care teams: spot patients who need regular follow-up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2000" b="0"/>
              <a:t>Health insurance providers: see which groups use more care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2000" b="0"/>
              <a:t>Public health planners: target chronic-condition programs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2000" b="0"/>
              <a:t>Students and analysts: example of an end-to-end analytics project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00000" y="1500000"/>
            <a:ext cx="5300000" cy="4300000"/>
          </a:xfrm>
        </p:spPr>
        <p:txBody>
          <a:bodyPr wrap="square"/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2000" b="0"/>
              <a:t>Python 3: programming language</a:t>
            </a:r>
            <a:endParaRPr lang="en-IN" dirty="0"/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2000" b="0"/>
              <a:t>Google Colab: cloud notebook to run the code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2000" b="0"/>
              <a:t>Pandas and NumPy: load, clean and calculate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2000" b="0"/>
              <a:t>Matplotlib and Seaborn: 10 charts and heatmap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2000" b="0"/>
              <a:t>GitHub: project code and files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2000" b="0"/>
              <a:t>MS Word and PowerPoint: report and presentation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 smtClean="0"/>
              <a:t>Technology Used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7500000" cy="830997"/>
          </a:xfrm>
        </p:spPr>
        <p:txBody>
          <a:bodyPr>
            <a:normAutofit/>
          </a:bodyPr>
          <a:lstStyle/>
          <a:p>
            <a:r>
              <a:rPr lang="en-GB" dirty="0"/>
              <a:t>RESULTS: KEY FINDINGS</a:t>
            </a:r>
            <a:endParaRPr lang="en-IN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 sz="1400"/>
              <a:t>GitHub link: paste your repository link here</a:t>
            </a:r>
            <a:r>
              <a:rPr lang="en-GB" sz="2000" b="0" u="sng" dirty="0">
                <a:solidFill>
                  <a:srgbClr val="0070C0"/>
                </a:solidFill>
              </a:rPr>
              <a:t/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500000"/>
            <a:ext cx="5700000" cy="4000000"/>
          </a:xfrm>
        </p:spPr>
        <p:txBody>
          <a:bodyPr wrap="square"/>
          <a:lstStyle/>
          <a:p>
            <a:pPr>
              <a:spcAft>
                <a:spcPts val="900"/>
              </a:spcAft>
            </a:pPr>
            <a:r>
              <a:rPr sz="1600" b="0">
                <a:solidFill>
                  <a:srgbClr val="000000"/>
                </a:solidFill>
              </a:rPr>
              <a:t>79.8% of patients had no doctor visits; the average is 0.30 visits per person.</a:t>
            </a:r>
            <a:endParaRPr lang="en-IN" dirty="0"/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000000"/>
                </a:solidFill>
              </a:rPr>
              <a:t>Reduced activity days is the strongest factor (correlation +0.42).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000000"/>
                </a:solidFill>
              </a:rPr>
              <a:t>Long-term chronic patients average 0.60 visits vs 0.26 without (about 2.3x).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000000"/>
                </a:solidFill>
              </a:rPr>
              <a:t>Illness type 5 averages 0.81 visits; type 0 only 0.08.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000000"/>
                </a:solidFill>
              </a:rPr>
              <a:t>Females average 0.36 visits vs 0.24 for males.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000000"/>
                </a:solidFill>
              </a:rPr>
              <a:t>Age and income have a weak effect.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2600" dirty="0"/>
              <a:t>Chart 1: Doctor Visits Distribution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pic>
        <p:nvPicPr>
          <p:cNvPr id="17" name="Picture 16" descr="chart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00" y="1700000"/>
            <a:ext cx="7500000" cy="262381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00000" y="4423818"/>
            <a:ext cx="7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700" b="0">
                <a:solidFill>
                  <a:srgbClr val="000000"/>
                </a:solidFill>
              </a:rPr>
              <a:t>79.8% of patients had 0 visits; only 20.2% visited at least once (maximum 9). Most patients rarely see a doctor.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2600" dirty="0"/>
              <a:t>Chart 2: Visits by Gender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pic>
        <p:nvPicPr>
          <p:cNvPr id="17" name="Picture 16" descr="chart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00" y="1700000"/>
            <a:ext cx="7500000" cy="283842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00000" y="4638427"/>
            <a:ext cx="7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700" b="0">
                <a:solidFill>
                  <a:srgbClr val="000000"/>
                </a:solidFill>
              </a:rPr>
              <a:t>Female patients average 0.36 visits vs 0.24 for males. The sample is 52% female (2,702 of 5,190).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2600" dirty="0"/>
              <a:t>Chart 3: Illness Type vs Visits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pic>
        <p:nvPicPr>
          <p:cNvPr id="17" name="Picture 16" descr="chart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00" y="1700000"/>
            <a:ext cx="5821184" cy="3450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00000" y="5250000"/>
            <a:ext cx="7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700" b="0">
                <a:solidFill>
                  <a:srgbClr val="000000"/>
                </a:solidFill>
              </a:rPr>
              <a:t>Average visits rise with illness type, from 0.08 (type 0) to 0.81 (type 5).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2600" dirty="0"/>
              <a:t>Chart 4: Income vs Visits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pic>
        <p:nvPicPr>
          <p:cNvPr id="17" name="Picture 16" descr="chart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00" y="1700000"/>
            <a:ext cx="6999413" cy="3450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00000" y="5250000"/>
            <a:ext cx="7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700" b="0">
                <a:solidFill>
                  <a:srgbClr val="000000"/>
                </a:solidFill>
              </a:rPr>
              <a:t>Income has a weak negative link with visits (correlation -0.08). Income alone does not explain visits.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2600" dirty="0"/>
              <a:t>Chart 5: Age Groups vs Visits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pic>
        <p:nvPicPr>
          <p:cNvPr id="17" name="Picture 16" descr="chart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00" y="1700000"/>
            <a:ext cx="6999413" cy="3450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00000" y="5250000"/>
            <a:ext cx="7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700" b="0">
                <a:solidFill>
                  <a:srgbClr val="000000"/>
                </a:solidFill>
              </a:rPr>
              <a:t>Visits rise with age, from 0.21 in the youngest group to 0.43 in the oldest. Age is a scaled value in this dataset.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2600" dirty="0"/>
              <a:t>Chart 6: Chronic Conditions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pic>
        <p:nvPicPr>
          <p:cNvPr id="17" name="Picture 16" descr="chart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00" y="1700000"/>
            <a:ext cx="7500000" cy="26339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00000" y="4433948"/>
            <a:ext cx="7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700" b="0">
                <a:solidFill>
                  <a:srgbClr val="000000"/>
                </a:solidFill>
              </a:rPr>
              <a:t>Long-term chronic patients average 0.60 visits vs 0.26 without (about 2.3x). Non-chronic: 0.35 vs 0.27.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2600" dirty="0"/>
              <a:t>Chart 7: Insurance Type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pic>
        <p:nvPicPr>
          <p:cNvPr id="17" name="Picture 16" descr="chart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00" y="1700000"/>
            <a:ext cx="7500000" cy="245071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00000" y="4250713"/>
            <a:ext cx="7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700" b="0">
                <a:solidFill>
                  <a:srgbClr val="000000"/>
                </a:solidFill>
              </a:rPr>
              <a:t>Free (repatriate) patients average 0.47 visits vs 0.26; free (poor) patients 0.16 vs 0.31. Private insurance: 0.30 vs 0.31.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2600" dirty="0"/>
              <a:t>Chart 8: Health Score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pic>
        <p:nvPicPr>
          <p:cNvPr id="17" name="Picture 16" descr="chart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00" y="1700000"/>
            <a:ext cx="7500000" cy="262381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00000" y="4423818"/>
            <a:ext cx="7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700" b="0">
                <a:solidFill>
                  <a:srgbClr val="000000"/>
                </a:solidFill>
              </a:rPr>
              <a:t>Health score and visits are positively related (correlation +0.19): a higher score goes with more visits. The median score is 0.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2600" dirty="0"/>
              <a:t>Chart 9: Reduced Activity Days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pic>
        <p:nvPicPr>
          <p:cNvPr id="17" name="Picture 16" descr="chart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00" y="1700000"/>
            <a:ext cx="6999413" cy="3450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00000" y="5250000"/>
            <a:ext cx="7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700" b="0">
                <a:solidFill>
                  <a:srgbClr val="000000"/>
                </a:solidFill>
              </a:rPr>
              <a:t>Visits rise sharply with reduced activity days: 0.18 (0 days) to 1.66 (11+ days), about 9 times higher.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2600" dirty="0"/>
              <a:t>Chart 10: Correlation Heatmap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pic>
        <p:nvPicPr>
          <p:cNvPr id="17" name="Picture 16" descr="chart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00" y="1650000"/>
            <a:ext cx="4722321" cy="4350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100000" y="2300000"/>
            <a:ext cx="25000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700" b="0">
                <a:solidFill>
                  <a:srgbClr val="000000"/>
                </a:solidFill>
              </a:rPr>
              <a:t>Reduced activity days has the strongest link with visits (+0.42), then illness type (+0.22) and health score (+0.19). Age and income are weak.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 smtClean="0">
                <a:solidFill>
                  <a:schemeClr val="tx1"/>
                </a:solidFill>
              </a:rPr>
              <a:t>Thank you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/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/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  <p:sp>
        <p:nvSpPr>
          <p:cNvPr id="46" name="TextBox 45"/>
          <p:cNvSpPr txBox="1"/>
          <p:nvPr/>
        </p:nvSpPr>
        <p:spPr>
          <a:xfrm>
            <a:off x="2000000" y="2300000"/>
            <a:ext cx="65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</a:rPr>
              <a:t>Gajanan Harinarayan Raje</a:t>
            </a:r>
          </a:p>
          <a:p>
            <a:pPr algn="ctr"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</a:rPr>
              <a:t>TYBCA | MGM's College of CS &amp; IT, Nanded</a:t>
            </a:r>
          </a:p>
          <a:p>
            <a:pPr algn="ctr"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</a:rPr>
              <a:t>Healthcare Analytics for Doctor Visits</a:t>
            </a:r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549</TotalTime>
  <Words>36</Words>
  <Application>Microsoft Office PowerPoint</Application>
  <PresentationFormat>Widescreen</PresentationFormat>
  <Paragraphs>13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Trebuchet MS</vt:lpstr>
      <vt:lpstr>Wingdings</vt:lpstr>
      <vt:lpstr>Wingdings 3</vt:lpstr>
      <vt:lpstr>Facet</vt:lpstr>
      <vt:lpstr>Project Title -</vt:lpstr>
      <vt:lpstr>PROBLEM  STATEMENT</vt:lpstr>
      <vt:lpstr>Project Description [write detail description about your project ]  </vt:lpstr>
      <vt:lpstr>WHO ARE THE END USERS?</vt:lpstr>
      <vt:lpstr>Technology Used</vt:lpstr>
      <vt:lpstr>RESULTS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hp</cp:lastModifiedBy>
  <cp:revision>73</cp:revision>
  <dcterms:created xsi:type="dcterms:W3CDTF">2021-07-11T13:13:15Z</dcterms:created>
  <dcterms:modified xsi:type="dcterms:W3CDTF">2023-12-29T05:01:43Z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